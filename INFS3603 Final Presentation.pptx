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45DE3-ABFE-27E6-53FE-1BAA1C868E4E}" v="51" dt="2026-04-20T04:50:10.981"/>
    <p1510:client id="{40262C42-8C91-BB19-7206-CF76C9610AD3}" v="198" dt="2026-04-20T04:57:25.951"/>
    <p1510:client id="{4AE99093-0AC7-F36B-2F41-BBAB6389475E}" v="8" dt="2026-04-22T00:55:33.402"/>
    <p1510:client id="{BB140889-A44F-A959-9F35-31BE7F5056A9}" v="1" dt="2026-04-21T07:33:36.002"/>
    <p1510:client id="{BC6CBC63-B873-434E-A11F-FE247C0697BC}" v="143" dt="2026-04-20T03:15:59.292"/>
    <p1510:client id="{BDBD1402-C52C-EFE1-864C-E159590F38AC}" v="61" dt="2026-04-20T03:29:04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0"/>
  </p:normalViewPr>
  <p:slideViewPr>
    <p:cSldViewPr snapToGrid="0">
      <p:cViewPr varScale="1">
        <p:scale>
          <a:sx n="145" d="100"/>
          <a:sy n="145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ho Park" userId="e184a52a-bacd-48bb-8275-644754cf0a91" providerId="ADAL" clId="{BC6CBC63-B873-434E-A11F-FE247C0697BC}"/>
    <pc:docChg chg="custSel modSld">
      <pc:chgData name="Sungho Park" userId="e184a52a-bacd-48bb-8275-644754cf0a91" providerId="ADAL" clId="{BC6CBC63-B873-434E-A11F-FE247C0697BC}" dt="2026-04-20T03:15:59.292" v="143" actId="20577"/>
      <pc:docMkLst>
        <pc:docMk/>
      </pc:docMkLst>
      <pc:sldChg chg="addSp delSp modSp mod">
        <pc:chgData name="Sungho Park" userId="e184a52a-bacd-48bb-8275-644754cf0a91" providerId="ADAL" clId="{BC6CBC63-B873-434E-A11F-FE247C0697BC}" dt="2026-04-20T03:15:59.292" v="143" actId="20577"/>
        <pc:sldMkLst>
          <pc:docMk/>
          <pc:sldMk cId="0" sldId="261"/>
        </pc:sldMkLst>
        <pc:spChg chg="mod">
          <ac:chgData name="Sungho Park" userId="e184a52a-bacd-48bb-8275-644754cf0a91" providerId="ADAL" clId="{BC6CBC63-B873-434E-A11F-FE247C0697BC}" dt="2026-04-20T03:15:59.292" v="143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Sungho Park" userId="e184a52a-bacd-48bb-8275-644754cf0a91" providerId="ADAL" clId="{BC6CBC63-B873-434E-A11F-FE247C0697BC}" dt="2026-04-20T03:11:27.741" v="71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Sungho Park" userId="e184a52a-bacd-48bb-8275-644754cf0a91" providerId="ADAL" clId="{BC6CBC63-B873-434E-A11F-FE247C0697BC}" dt="2026-04-20T02:59:48.281" v="26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ungho Park" userId="e184a52a-bacd-48bb-8275-644754cf0a91" providerId="ADAL" clId="{BC6CBC63-B873-434E-A11F-FE247C0697BC}" dt="2026-04-20T03:15:51.356" v="138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ungho Park" userId="e184a52a-bacd-48bb-8275-644754cf0a91" providerId="ADAL" clId="{BC6CBC63-B873-434E-A11F-FE247C0697BC}" dt="2026-04-20T03:14:58.714" v="127" actId="20577"/>
          <ac:spMkLst>
            <pc:docMk/>
            <pc:sldMk cId="0" sldId="261"/>
            <ac:spMk id="22" creationId="{00000000-0000-0000-0000-000000000000}"/>
          </ac:spMkLst>
        </pc:spChg>
        <pc:picChg chg="add mod">
          <ac:chgData name="Sungho Park" userId="e184a52a-bacd-48bb-8275-644754cf0a91" providerId="ADAL" clId="{BC6CBC63-B873-434E-A11F-FE247C0697BC}" dt="2026-04-20T03:01:06.091" v="27" actId="14100"/>
          <ac:picMkLst>
            <pc:docMk/>
            <pc:sldMk cId="0" sldId="261"/>
            <ac:picMk id="7" creationId="{03A1E8AF-F997-4B0A-F41B-598239ACED65}"/>
          </ac:picMkLst>
        </pc:picChg>
      </pc:sldChg>
    </pc:docChg>
  </pc:docChgLst>
  <pc:docChgLst>
    <pc:chgData name="Guest User" userId="S::urn:spo:tenantanon#3ff6cfa4-e715-48db-b8e1-0867b9f9fba3::" providerId="AD" clId="Web-{4AE99093-0AC7-F36B-2F41-BBAB6389475E}"/>
    <pc:docChg chg="modSld">
      <pc:chgData name="Guest User" userId="S::urn:spo:tenantanon#3ff6cfa4-e715-48db-b8e1-0867b9f9fba3::" providerId="AD" clId="Web-{4AE99093-0AC7-F36B-2F41-BBAB6389475E}" dt="2026-04-22T00:55:33.402" v="7" actId="1076"/>
      <pc:docMkLst>
        <pc:docMk/>
      </pc:docMkLst>
      <pc:sldChg chg="addSp delSp modSp">
        <pc:chgData name="Guest User" userId="S::urn:spo:tenantanon#3ff6cfa4-e715-48db-b8e1-0867b9f9fba3::" providerId="AD" clId="Web-{4AE99093-0AC7-F36B-2F41-BBAB6389475E}" dt="2026-04-22T00:55:33.402" v="7" actId="1076"/>
        <pc:sldMkLst>
          <pc:docMk/>
          <pc:sldMk cId="0" sldId="262"/>
        </pc:sldMkLst>
        <pc:picChg chg="mod">
          <ac:chgData name="Guest User" userId="S::urn:spo:tenantanon#3ff6cfa4-e715-48db-b8e1-0867b9f9fba3::" providerId="AD" clId="Web-{4AE99093-0AC7-F36B-2F41-BBAB6389475E}" dt="2026-04-22T00:55:33.402" v="7" actId="1076"/>
          <ac:picMkLst>
            <pc:docMk/>
            <pc:sldMk cId="0" sldId="262"/>
            <ac:picMk id="7" creationId="{00000000-0000-0000-0000-000000000000}"/>
          </ac:picMkLst>
        </pc:picChg>
        <pc:picChg chg="add del mod">
          <ac:chgData name="Guest User" userId="S::urn:spo:tenantanon#3ff6cfa4-e715-48db-b8e1-0867b9f9fba3::" providerId="AD" clId="Web-{4AE99093-0AC7-F36B-2F41-BBAB6389475E}" dt="2026-04-22T00:55:15.996" v="4"/>
          <ac:picMkLst>
            <pc:docMk/>
            <pc:sldMk cId="0" sldId="262"/>
            <ac:picMk id="30" creationId="{8A89DC18-8A5B-B822-5E9C-662DEE4EFE6D}"/>
          </ac:picMkLst>
        </pc:picChg>
      </pc:sldChg>
    </pc:docChg>
  </pc:docChgLst>
  <pc:docChgLst>
    <pc:chgData name="Guest User" userId="S::urn:spo:tenantanon#3ff6cfa4-e715-48db-b8e1-0867b9f9fba3::" providerId="AD" clId="Web-{BB140889-A44F-A959-9F35-31BE7F5056A9}"/>
    <pc:docChg chg="modSld">
      <pc:chgData name="Guest User" userId="S::urn:spo:tenantanon#3ff6cfa4-e715-48db-b8e1-0867b9f9fba3::" providerId="AD" clId="Web-{BB140889-A44F-A959-9F35-31BE7F5056A9}" dt="2026-04-21T07:33:36.002" v="0" actId="1076"/>
      <pc:docMkLst>
        <pc:docMk/>
      </pc:docMkLst>
      <pc:sldChg chg="modSp">
        <pc:chgData name="Guest User" userId="S::urn:spo:tenantanon#3ff6cfa4-e715-48db-b8e1-0867b9f9fba3::" providerId="AD" clId="Web-{BB140889-A44F-A959-9F35-31BE7F5056A9}" dt="2026-04-21T07:33:36.002" v="0" actId="1076"/>
        <pc:sldMkLst>
          <pc:docMk/>
          <pc:sldMk cId="0" sldId="262"/>
        </pc:sldMkLst>
        <pc:picChg chg="mod">
          <ac:chgData name="Guest User" userId="S::urn:spo:tenantanon#3ff6cfa4-e715-48db-b8e1-0867b9f9fba3::" providerId="AD" clId="Web-{BB140889-A44F-A959-9F35-31BE7F5056A9}" dt="2026-04-21T07:33:36.002" v="0" actId="1076"/>
          <ac:picMkLst>
            <pc:docMk/>
            <pc:sldMk cId="0" sldId="262"/>
            <ac:picMk id="7" creationId="{00000000-0000-0000-0000-000000000000}"/>
          </ac:picMkLst>
        </pc:picChg>
      </pc:sldChg>
    </pc:docChg>
  </pc:docChgLst>
  <pc:docChgLst>
    <pc:chgData name="Galen Yuan" userId="S::z5362635@ad.unsw.edu.au::8e0bf8b2-cb6a-4610-8e8a-0622794716e2" providerId="AD" clId="Web-{BDBD1402-C52C-EFE1-864C-E159590F38AC}"/>
    <pc:docChg chg="addSld delSld modSld">
      <pc:chgData name="Galen Yuan" userId="S::z5362635@ad.unsw.edu.au::8e0bf8b2-cb6a-4610-8e8a-0622794716e2" providerId="AD" clId="Web-{BDBD1402-C52C-EFE1-864C-E159590F38AC}" dt="2026-04-20T03:29:04.816" v="57" actId="1076"/>
      <pc:docMkLst>
        <pc:docMk/>
      </pc:docMkLst>
      <pc:sldChg chg="modSp">
        <pc:chgData name="Galen Yuan" userId="S::z5362635@ad.unsw.edu.au::8e0bf8b2-cb6a-4610-8e8a-0622794716e2" providerId="AD" clId="Web-{BDBD1402-C52C-EFE1-864C-E159590F38AC}" dt="2026-04-20T02:33:48.937" v="9" actId="14100"/>
        <pc:sldMkLst>
          <pc:docMk/>
          <pc:sldMk cId="0" sldId="259"/>
        </pc:sldMkLst>
        <pc:spChg chg="mod">
          <ac:chgData name="Galen Yuan" userId="S::z5362635@ad.unsw.edu.au::8e0bf8b2-cb6a-4610-8e8a-0622794716e2" providerId="AD" clId="Web-{BDBD1402-C52C-EFE1-864C-E159590F38AC}" dt="2026-04-20T02:33:13.030" v="3" actId="1076"/>
          <ac:spMkLst>
            <pc:docMk/>
            <pc:sldMk cId="0" sldId="259"/>
            <ac:spMk id="27" creationId="{00000000-0000-0000-0000-000000000000}"/>
          </ac:spMkLst>
        </pc:spChg>
        <pc:picChg chg="mod modCrop">
          <ac:chgData name="Galen Yuan" userId="S::z5362635@ad.unsw.edu.au::8e0bf8b2-cb6a-4610-8e8a-0622794716e2" providerId="AD" clId="Web-{BDBD1402-C52C-EFE1-864C-E159590F38AC}" dt="2026-04-20T02:33:48.937" v="9" actId="14100"/>
          <ac:picMkLst>
            <pc:docMk/>
            <pc:sldMk cId="0" sldId="259"/>
            <ac:picMk id="28" creationId="{00000000-0000-0000-0000-000000000000}"/>
          </ac:picMkLst>
        </pc:picChg>
      </pc:sldChg>
      <pc:sldChg chg="addSp delSp modSp">
        <pc:chgData name="Galen Yuan" userId="S::z5362635@ad.unsw.edu.au::8e0bf8b2-cb6a-4610-8e8a-0622794716e2" providerId="AD" clId="Web-{BDBD1402-C52C-EFE1-864C-E159590F38AC}" dt="2026-04-20T02:39:23.724" v="43" actId="14100"/>
        <pc:sldMkLst>
          <pc:docMk/>
          <pc:sldMk cId="0" sldId="261"/>
        </pc:sldMkLst>
      </pc:sldChg>
      <pc:sldChg chg="modSp">
        <pc:chgData name="Galen Yuan" userId="S::z5362635@ad.unsw.edu.au::8e0bf8b2-cb6a-4610-8e8a-0622794716e2" providerId="AD" clId="Web-{BDBD1402-C52C-EFE1-864C-E159590F38AC}" dt="2026-04-20T02:35:06.548" v="10" actId="20577"/>
        <pc:sldMkLst>
          <pc:docMk/>
          <pc:sldMk cId="0" sldId="262"/>
        </pc:sldMkLst>
        <pc:spChg chg="mod">
          <ac:chgData name="Galen Yuan" userId="S::z5362635@ad.unsw.edu.au::8e0bf8b2-cb6a-4610-8e8a-0622794716e2" providerId="AD" clId="Web-{BDBD1402-C52C-EFE1-864C-E159590F38AC}" dt="2026-04-20T02:35:06.548" v="10" actId="20577"/>
          <ac:spMkLst>
            <pc:docMk/>
            <pc:sldMk cId="0" sldId="262"/>
            <ac:spMk id="4" creationId="{00000000-0000-0000-0000-000000000000}"/>
          </ac:spMkLst>
        </pc:spChg>
      </pc:sldChg>
      <pc:sldChg chg="addSp delSp modSp">
        <pc:chgData name="Galen Yuan" userId="S::z5362635@ad.unsw.edu.au::8e0bf8b2-cb6a-4610-8e8a-0622794716e2" providerId="AD" clId="Web-{BDBD1402-C52C-EFE1-864C-E159590F38AC}" dt="2026-04-20T03:29:04.816" v="57" actId="1076"/>
        <pc:sldMkLst>
          <pc:docMk/>
          <pc:sldMk cId="0" sldId="263"/>
        </pc:sldMkLst>
        <pc:picChg chg="add mod">
          <ac:chgData name="Galen Yuan" userId="S::z5362635@ad.unsw.edu.au::8e0bf8b2-cb6a-4610-8e8a-0622794716e2" providerId="AD" clId="Web-{BDBD1402-C52C-EFE1-864C-E159590F38AC}" dt="2026-04-20T03:29:04.816" v="57" actId="1076"/>
          <ac:picMkLst>
            <pc:docMk/>
            <pc:sldMk cId="0" sldId="263"/>
            <ac:picMk id="33" creationId="{401E0CF4-83A4-CA73-626C-D64747D8B0DC}"/>
          </ac:picMkLst>
        </pc:picChg>
      </pc:sldChg>
    </pc:docChg>
  </pc:docChgLst>
  <pc:docChgLst>
    <pc:chgData name="Sriram Suresh" userId="S::z5479863@ad.unsw.edu.au::6ca1a25f-8177-4747-b0ca-b72e89efe13a" providerId="AD" clId="Web-{28E45DE3-ABFE-27E6-53FE-1BAA1C868E4E}"/>
    <pc:docChg chg="modSld">
      <pc:chgData name="Sriram Suresh" userId="S::z5479863@ad.unsw.edu.au::6ca1a25f-8177-4747-b0ca-b72e89efe13a" providerId="AD" clId="Web-{28E45DE3-ABFE-27E6-53FE-1BAA1C868E4E}" dt="2026-04-20T04:50:10.981" v="50" actId="14100"/>
      <pc:docMkLst>
        <pc:docMk/>
      </pc:docMkLst>
      <pc:sldChg chg="modSp">
        <pc:chgData name="Sriram Suresh" userId="S::z5479863@ad.unsw.edu.au::6ca1a25f-8177-4747-b0ca-b72e89efe13a" providerId="AD" clId="Web-{28E45DE3-ABFE-27E6-53FE-1BAA1C868E4E}" dt="2026-04-20T04:27:01.498" v="0" actId="14100"/>
        <pc:sldMkLst>
          <pc:docMk/>
          <pc:sldMk cId="0" sldId="258"/>
        </pc:sldMkLst>
        <pc:picChg chg="mod">
          <ac:chgData name="Sriram Suresh" userId="S::z5479863@ad.unsw.edu.au::6ca1a25f-8177-4747-b0ca-b72e89efe13a" providerId="AD" clId="Web-{28E45DE3-ABFE-27E6-53FE-1BAA1C868E4E}" dt="2026-04-20T04:27:01.498" v="0" actId="14100"/>
          <ac:picMkLst>
            <pc:docMk/>
            <pc:sldMk cId="0" sldId="258"/>
            <ac:picMk id="12" creationId="{00000000-0000-0000-0000-000000000000}"/>
          </ac:picMkLst>
        </pc:picChg>
      </pc:sldChg>
      <pc:sldChg chg="modSp">
        <pc:chgData name="Sriram Suresh" userId="S::z5479863@ad.unsw.edu.au::6ca1a25f-8177-4747-b0ca-b72e89efe13a" providerId="AD" clId="Web-{28E45DE3-ABFE-27E6-53FE-1BAA1C868E4E}" dt="2026-04-20T04:50:10.981" v="50" actId="14100"/>
        <pc:sldMkLst>
          <pc:docMk/>
          <pc:sldMk cId="0" sldId="261"/>
        </pc:sldMkLst>
        <pc:spChg chg="mod">
          <ac:chgData name="Sriram Suresh" userId="S::z5479863@ad.unsw.edu.au::6ca1a25f-8177-4747-b0ca-b72e89efe13a" providerId="AD" clId="Web-{28E45DE3-ABFE-27E6-53FE-1BAA1C868E4E}" dt="2026-04-20T04:49:57.262" v="48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7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6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5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4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3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2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1" actId="1410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40" actId="1410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9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8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7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6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5" actId="1410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4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3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2" actId="1410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1" actId="1410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30" actId="14100"/>
          <ac:spMkLst>
            <pc:docMk/>
            <pc:sldMk cId="0" sldId="261"/>
            <ac:spMk id="26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29" actId="1410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28" actId="14100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27" actId="14100"/>
          <ac:spMkLst>
            <pc:docMk/>
            <pc:sldMk cId="0" sldId="261"/>
            <ac:spMk id="29" creationId="{00000000-0000-0000-0000-000000000000}"/>
          </ac:spMkLst>
        </pc:spChg>
        <pc:spChg chg="mod">
          <ac:chgData name="Sriram Suresh" userId="S::z5479863@ad.unsw.edu.au::6ca1a25f-8177-4747-b0ca-b72e89efe13a" providerId="AD" clId="Web-{28E45DE3-ABFE-27E6-53FE-1BAA1C868E4E}" dt="2026-04-20T04:49:57.262" v="26" actId="14100"/>
          <ac:spMkLst>
            <pc:docMk/>
            <pc:sldMk cId="0" sldId="261"/>
            <ac:spMk id="30" creationId="{00000000-0000-0000-0000-000000000000}"/>
          </ac:spMkLst>
        </pc:spChg>
        <pc:picChg chg="mod">
          <ac:chgData name="Sriram Suresh" userId="S::z5479863@ad.unsw.edu.au::6ca1a25f-8177-4747-b0ca-b72e89efe13a" providerId="AD" clId="Web-{28E45DE3-ABFE-27E6-53FE-1BAA1C868E4E}" dt="2026-04-20T04:50:10.981" v="50" actId="14100"/>
          <ac:picMkLst>
            <pc:docMk/>
            <pc:sldMk cId="0" sldId="261"/>
            <ac:picMk id="7" creationId="{03A1E8AF-F997-4B0A-F41B-598239ACED65}"/>
          </ac:picMkLst>
        </pc:picChg>
      </pc:sldChg>
    </pc:docChg>
  </pc:docChgLst>
  <pc:docChgLst>
    <pc:chgData name="Guest User" userId="S::urn:spo:tenantanon#3ff6cfa4-e715-48db-b8e1-0867b9f9fba3::" providerId="AD" clId="Web-{40262C42-8C91-BB19-7206-CF76C9610AD3}"/>
    <pc:docChg chg="addSld delSld modSld">
      <pc:chgData name="Guest User" userId="S::urn:spo:tenantanon#3ff6cfa4-e715-48db-b8e1-0867b9f9fba3::" providerId="AD" clId="Web-{40262C42-8C91-BB19-7206-CF76C9610AD3}" dt="2026-04-20T04:57:25.951" v="197"/>
      <pc:docMkLst>
        <pc:docMk/>
      </pc:docMkLst>
      <pc:sldChg chg="addSp delSp modSp">
        <pc:chgData name="Guest User" userId="S::urn:spo:tenantanon#3ff6cfa4-e715-48db-b8e1-0867b9f9fba3::" providerId="AD" clId="Web-{40262C42-8C91-BB19-7206-CF76C9610AD3}" dt="2026-04-20T04:51:59.596" v="160" actId="1076"/>
        <pc:sldMkLst>
          <pc:docMk/>
          <pc:sldMk cId="0" sldId="263"/>
        </pc:sldMkLst>
        <pc:spChg chg="add mod">
          <ac:chgData name="Guest User" userId="S::urn:spo:tenantanon#3ff6cfa4-e715-48db-b8e1-0867b9f9fba3::" providerId="AD" clId="Web-{40262C42-8C91-BB19-7206-CF76C9610AD3}" dt="2026-04-20T04:43:10.314" v="110" actId="20577"/>
          <ac:spMkLst>
            <pc:docMk/>
            <pc:sldMk cId="0" sldId="263"/>
            <ac:spMk id="7" creationId="{2BC755D9-C53C-0446-2255-4751548D2BC4}"/>
          </ac:spMkLst>
        </pc:spChg>
        <pc:spChg chg="mod">
          <ac:chgData name="Guest User" userId="S::urn:spo:tenantanon#3ff6cfa4-e715-48db-b8e1-0867b9f9fba3::" providerId="AD" clId="Web-{40262C42-8C91-BB19-7206-CF76C9610AD3}" dt="2026-04-20T04:47:23.212" v="140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Guest User" userId="S::urn:spo:tenantanon#3ff6cfa4-e715-48db-b8e1-0867b9f9fba3::" providerId="AD" clId="Web-{40262C42-8C91-BB19-7206-CF76C9610AD3}" dt="2026-04-20T04:46:29.255" v="134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Guest User" userId="S::urn:spo:tenantanon#3ff6cfa4-e715-48db-b8e1-0867b9f9fba3::" providerId="AD" clId="Web-{40262C42-8C91-BB19-7206-CF76C9610AD3}" dt="2026-04-20T04:46:32.896" v="135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Guest User" userId="S::urn:spo:tenantanon#3ff6cfa4-e715-48db-b8e1-0867b9f9fba3::" providerId="AD" clId="Web-{40262C42-8C91-BB19-7206-CF76C9610AD3}" dt="2026-04-20T04:45:55.661" v="128" actId="20577"/>
          <ac:spMkLst>
            <pc:docMk/>
            <pc:sldMk cId="0" sldId="263"/>
            <ac:spMk id="23" creationId="{00000000-0000-0000-0000-000000000000}"/>
          </ac:spMkLst>
        </pc:spChg>
        <pc:spChg chg="add mod">
          <ac:chgData name="Guest User" userId="S::urn:spo:tenantanon#3ff6cfa4-e715-48db-b8e1-0867b9f9fba3::" providerId="AD" clId="Web-{40262C42-8C91-BB19-7206-CF76C9610AD3}" dt="2026-04-20T04:51:45.517" v="157" actId="14100"/>
          <ac:spMkLst>
            <pc:docMk/>
            <pc:sldMk cId="0" sldId="263"/>
            <ac:spMk id="36" creationId="{B3E8449F-E3D7-ED93-0839-D5386ACFE00B}"/>
          </ac:spMkLst>
        </pc:spChg>
        <pc:picChg chg="add mod">
          <ac:chgData name="Guest User" userId="S::urn:spo:tenantanon#3ff6cfa4-e715-48db-b8e1-0867b9f9fba3::" providerId="AD" clId="Web-{40262C42-8C91-BB19-7206-CF76C9610AD3}" dt="2026-04-20T04:44:00.659" v="119" actId="1076"/>
          <ac:picMkLst>
            <pc:docMk/>
            <pc:sldMk cId="0" sldId="263"/>
            <ac:picMk id="35" creationId="{151626AC-2D9B-CCE1-C507-EF15C7755C19}"/>
          </ac:picMkLst>
        </pc:picChg>
        <pc:picChg chg="add mod">
          <ac:chgData name="Guest User" userId="S::urn:spo:tenantanon#3ff6cfa4-e715-48db-b8e1-0867b9f9fba3::" providerId="AD" clId="Web-{40262C42-8C91-BB19-7206-CF76C9610AD3}" dt="2026-04-20T04:51:59.596" v="160" actId="1076"/>
          <ac:picMkLst>
            <pc:docMk/>
            <pc:sldMk cId="0" sldId="263"/>
            <ac:picMk id="37" creationId="{441D33D9-220B-B3C5-5557-74517E530E46}"/>
          </ac:picMkLst>
        </pc:picChg>
      </pc:sldChg>
      <pc:sldChg chg="addSp modSp">
        <pc:chgData name="Guest User" userId="S::urn:spo:tenantanon#3ff6cfa4-e715-48db-b8e1-0867b9f9fba3::" providerId="AD" clId="Web-{40262C42-8C91-BB19-7206-CF76C9610AD3}" dt="2026-04-20T04:57:25.951" v="197"/>
        <pc:sldMkLst>
          <pc:docMk/>
          <pc:sldMk cId="0" sldId="264"/>
        </pc:sldMkLst>
        <pc:spChg chg="mod">
          <ac:chgData name="Guest User" userId="S::urn:spo:tenantanon#3ff6cfa4-e715-48db-b8e1-0867b9f9fba3::" providerId="AD" clId="Web-{40262C42-8C91-BB19-7206-CF76C9610AD3}" dt="2026-04-20T04:53:23.053" v="161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Guest User" userId="S::urn:spo:tenantanon#3ff6cfa4-e715-48db-b8e1-0867b9f9fba3::" providerId="AD" clId="Web-{40262C42-8C91-BB19-7206-CF76C9610AD3}" dt="2026-04-20T04:53:24.881" v="162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Guest User" userId="S::urn:spo:tenantanon#3ff6cfa4-e715-48db-b8e1-0867b9f9fba3::" providerId="AD" clId="Web-{40262C42-8C91-BB19-7206-CF76C9610AD3}" dt="2026-04-20T04:53:37.975" v="164" actId="20577"/>
          <ac:spMkLst>
            <pc:docMk/>
            <pc:sldMk cId="0" sldId="264"/>
            <ac:spMk id="19" creationId="{00000000-0000-0000-0000-000000000000}"/>
          </ac:spMkLst>
        </pc:spChg>
        <pc:graphicFrameChg chg="mod modGraphic">
          <ac:chgData name="Guest User" userId="S::urn:spo:tenantanon#3ff6cfa4-e715-48db-b8e1-0867b9f9fba3::" providerId="AD" clId="Web-{40262C42-8C91-BB19-7206-CF76C9610AD3}" dt="2026-04-20T04:57:25.951" v="197"/>
          <ac:graphicFrameMkLst>
            <pc:docMk/>
            <pc:sldMk cId="0" sldId="264"/>
            <ac:graphicFrameMk id="10" creationId="{00000000-0000-0000-0000-000000000000}"/>
          </ac:graphicFrameMkLst>
        </pc:graphicFrameChg>
        <pc:picChg chg="add mod">
          <ac:chgData name="Guest User" userId="S::urn:spo:tenantanon#3ff6cfa4-e715-48db-b8e1-0867b9f9fba3::" providerId="AD" clId="Web-{40262C42-8C91-BB19-7206-CF76C9610AD3}" dt="2026-04-20T04:55:49.370" v="176" actId="1076"/>
          <ac:picMkLst>
            <pc:docMk/>
            <pc:sldMk cId="0" sldId="264"/>
            <ac:picMk id="23" creationId="{E0D4287D-0137-8A34-6518-AB3D9B88A45D}"/>
          </ac:picMkLst>
        </pc:picChg>
        <pc:picChg chg="add mod">
          <ac:chgData name="Guest User" userId="S::urn:spo:tenantanon#3ff6cfa4-e715-48db-b8e1-0867b9f9fba3::" providerId="AD" clId="Web-{40262C42-8C91-BB19-7206-CF76C9610AD3}" dt="2026-04-20T04:56:57.075" v="183" actId="1076"/>
          <ac:picMkLst>
            <pc:docMk/>
            <pc:sldMk cId="0" sldId="264"/>
            <ac:picMk id="24" creationId="{0076D6B7-3044-CF4A-C56D-C763FEF774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BE576-4EF1-4470-975F-2FCA4F7BD975}" type="datetimeFigureOut">
              <a:t>6/4/26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75591-C4DA-4A89-A318-2C86C530872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58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97D68-B74B-3520-044D-FB41B09B1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27108-620D-4878-EA7E-A20E605C7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99BE3-7F0B-AFED-7500-8CC936A99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72D71-CA34-8A10-7D80-7B6BB7761E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18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2D94-714E-DA13-0BFD-5CABDC59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B89C2-8862-524C-072C-3F4530130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CA829-8907-FFDC-8669-5CE81B07C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8CDB3-FC0C-0B91-E4DC-3F2E77C99D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07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0F98-26C7-5376-E349-0DF3D361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F26D2-E8F1-480D-C44A-D5366717F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2AD42-DF04-280A-E701-523ED65B9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481E5-12C4-FD06-4BA8-35E307FE5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71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FF72-C8A6-91BC-430F-D9DA6D3F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B3ADA-EF9D-9E87-0128-E42F31C89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D17D8-35A7-7B9E-468E-2CA22A98E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D34C2-81BE-C504-566B-85957F2D3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2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7200"/>
            <a:ext cx="237744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15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OPTIMISING THE CRAFT BEER PORTFOLIO</a:t>
            </a:r>
            <a:endParaRPr lang="en-US" sz="3200"/>
          </a:p>
        </p:txBody>
      </p:sp>
      <p:sp>
        <p:nvSpPr>
          <p:cNvPr id="4" name="Text 1"/>
          <p:cNvSpPr/>
          <p:nvPr/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Margin Protection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Market Growth</a:t>
            </a:r>
            <a:endParaRPr lang="en-US" sz="1800"/>
          </a:p>
        </p:txBody>
      </p:sp>
      <p:sp>
        <p:nvSpPr>
          <p:cNvPr id="5" name="Shape 2"/>
          <p:cNvSpPr/>
          <p:nvPr/>
        </p:nvSpPr>
        <p:spPr>
          <a:xfrm>
            <a:off x="731520" y="3063240"/>
            <a:ext cx="1828800" cy="36576"/>
          </a:xfrm>
          <a:prstGeom prst="rect">
            <a:avLst/>
          </a:prstGeom>
          <a:solidFill>
            <a:srgbClr val="D4A439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and Recommendations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Team Members  |  20th April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strategic direction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solidFill>
            <a:srgbClr val="D6E4F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$4.31M total revenue, YoY growth has contracted by 0.4%. A strategic realignment of promotions and product focus is needed.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0" name="Shape 8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31343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Discounts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685800" y="2788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levels erode margins to ~35% without generating enough volume to offset the loss.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3383280" y="2103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5" name="Shape 12"/>
          <p:cNvSpPr/>
          <p:nvPr/>
        </p:nvSpPr>
        <p:spPr>
          <a:xfrm>
            <a:off x="3520440" y="2240280"/>
            <a:ext cx="411480" cy="41148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31343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3520440" y="2788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IPAs &amp; Lagers drive highest margins (~44-47%), outperforming sweeter profiles (Fruit/Sour, Strong Ale) at ~38%.</a:t>
            </a:r>
            <a:endParaRPr lang="en-US" sz="1100"/>
          </a:p>
        </p:txBody>
      </p:sp>
      <p:sp>
        <p:nvSpPr>
          <p:cNvPr id="19" name="Shape 15"/>
          <p:cNvSpPr/>
          <p:nvPr/>
        </p:nvSpPr>
        <p:spPr>
          <a:xfrm>
            <a:off x="6217920" y="2103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0" name="Shape 16"/>
          <p:cNvSpPr/>
          <p:nvPr/>
        </p:nvSpPr>
        <p:spPr>
          <a:xfrm>
            <a:off x="6355080" y="2240280"/>
            <a:ext cx="411480" cy="41148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31343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Variance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6355080" y="2788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regions thrive via Casual Drinkers &amp; Enthusiasts. Mountain &amp; Southwest drag national averages.</a:t>
            </a:r>
            <a:endParaRPr lang="en-US" sz="1100"/>
          </a:p>
        </p:txBody>
      </p:sp>
      <p:sp>
        <p:nvSpPr>
          <p:cNvPr id="24" name="Shape 19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5196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4187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focus toward IPAs/Lagers, restructure discount tiers, and reposition in underperforming Southern markets.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Overview &amp; Business Question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64008" cy="77724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6" name="Text 4"/>
          <p:cNvSpPr/>
          <p:nvPr/>
        </p:nvSpPr>
        <p:spPr>
          <a:xfrm>
            <a:off x="777240" y="8503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777240" y="1033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company distributes a diverse craft beer portfolio across multiple U.S. regions and sales channels.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64008" cy="777240"/>
          </a:xfrm>
          <a:prstGeom prst="rect">
            <a:avLst/>
          </a:prstGeom>
          <a:solidFill>
            <a:srgbClr val="4A90C4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0" name="Text 8"/>
          <p:cNvSpPr/>
          <p:nvPr/>
        </p:nvSpPr>
        <p:spPr>
          <a:xfrm>
            <a:off x="4983480" y="8503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983480" y="1033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Stagnant YoY growth with varying performance across products and regions. We need clarity on profit drivers vs. drags.</a:t>
            </a:r>
            <a:endParaRPr lang="en-US" sz="1000"/>
          </a:p>
        </p:txBody>
      </p:sp>
      <p:pic>
        <p:nvPicPr>
          <p:cNvPr id="12" name="Image 0" descr="/home/claude/slide_2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468" y="1969677"/>
            <a:ext cx="4586356" cy="228228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34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44074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should the company optimise its beer portfolio to maximise profit margins and drive regional growth?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Methodology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preparation, modelling, and analytical approaches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365760" cy="36576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143000" y="1353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 dictionary, corrected data types, split Style column into Primary Style and Family.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548640" y="2188464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3" name="Shape 11"/>
          <p:cNvSpPr/>
          <p:nvPr/>
        </p:nvSpPr>
        <p:spPr>
          <a:xfrm>
            <a:off x="658368" y="2353056"/>
            <a:ext cx="365760" cy="36576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4" name="Text 12"/>
          <p:cNvSpPr/>
          <p:nvPr/>
        </p:nvSpPr>
        <p:spPr>
          <a:xfrm>
            <a:off x="658368" y="2353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143000" y="22616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Model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1143000" y="25085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 as central table, linked to Customer, Product, Calendar, Region &amp; Channel dimensions.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548640" y="309676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8" name="Shape 16"/>
          <p:cNvSpPr/>
          <p:nvPr/>
        </p:nvSpPr>
        <p:spPr>
          <a:xfrm>
            <a:off x="658368" y="3261360"/>
            <a:ext cx="365760" cy="36576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261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143000" y="3169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DAX Measures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1143000" y="3416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Total Profit, Profit Margin, Units Sold, Avg. Unit Revenue, Transactions, YoY Growth.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" y="40050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3" name="Shape 21"/>
          <p:cNvSpPr/>
          <p:nvPr/>
        </p:nvSpPr>
        <p:spPr>
          <a:xfrm>
            <a:off x="658368" y="4169664"/>
            <a:ext cx="365760" cy="36576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4" name="Text 22"/>
          <p:cNvSpPr/>
          <p:nvPr/>
        </p:nvSpPr>
        <p:spPr>
          <a:xfrm>
            <a:off x="658368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143000" y="40782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Design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1143000" y="4325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 with slicers, visual hierarchy, and pre-attentive design to highlight key patterns.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4937760" y="1234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</a:t>
            </a:r>
            <a:endParaRPr lang="en-US" sz="800"/>
          </a:p>
        </p:txBody>
      </p:sp>
      <p:pic>
        <p:nvPicPr>
          <p:cNvPr id="28" name="Image 0" descr="/home/claude/slide_3_visual.png"/>
          <p:cNvPicPr>
            <a:picLocks noChangeAspect="1"/>
          </p:cNvPicPr>
          <p:nvPr/>
        </p:nvPicPr>
        <p:blipFill>
          <a:blip r:embed="rId3"/>
          <a:srcRect l="3478" t="3939" r="7202" b="17102"/>
          <a:stretch>
            <a:fillRect/>
          </a:stretch>
        </p:blipFill>
        <p:spPr>
          <a:xfrm>
            <a:off x="4936679" y="1442613"/>
            <a:ext cx="3932378" cy="219245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3886200"/>
            <a:ext cx="3931920" cy="8686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0" name="Text 27"/>
          <p:cNvSpPr/>
          <p:nvPr/>
        </p:nvSpPr>
        <p:spPr>
          <a:xfrm>
            <a:off x="5074920" y="39593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APPROACH</a:t>
            </a:r>
            <a:endParaRPr lang="en-US" sz="800"/>
          </a:p>
        </p:txBody>
      </p:sp>
      <p:sp>
        <p:nvSpPr>
          <p:cNvPr id="31" name="Text 28"/>
          <p:cNvSpPr/>
          <p:nvPr/>
        </p:nvSpPr>
        <p:spPr>
          <a:xfrm>
            <a:off x="5074920" y="4142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Dashboard, DAX, interactive slicers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fact table + 5 dimension tables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Sales Overview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at a glance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64008" cy="123444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$4.31M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64008" cy="123444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3" name="Text 11"/>
          <p:cNvSpPr/>
          <p:nvPr/>
        </p:nvSpPr>
        <p:spPr>
          <a:xfrm>
            <a:off x="3611880" y="1463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561K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36118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64008" cy="12344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7" name="Text 15"/>
          <p:cNvSpPr/>
          <p:nvPr/>
        </p:nvSpPr>
        <p:spPr>
          <a:xfrm>
            <a:off x="6446520" y="1463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$7.68</a:t>
            </a:r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64465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 Revenue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64008" cy="12344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1" name="Text 19"/>
          <p:cNvSpPr/>
          <p:nvPr/>
        </p:nvSpPr>
        <p:spPr>
          <a:xfrm>
            <a:off x="77724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-0.4%</a:t>
            </a:r>
            <a:endParaRPr lang="en-US" sz="3200"/>
          </a:p>
        </p:txBody>
      </p:sp>
      <p:sp>
        <p:nvSpPr>
          <p:cNvPr id="22" name="Text 20"/>
          <p:cNvSpPr/>
          <p:nvPr/>
        </p:nvSpPr>
        <p:spPr>
          <a:xfrm>
            <a:off x="7772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(YoY)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3383280" y="274320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4" name="Shape 22"/>
          <p:cNvSpPr/>
          <p:nvPr/>
        </p:nvSpPr>
        <p:spPr>
          <a:xfrm>
            <a:off x="3383280" y="2743200"/>
            <a:ext cx="64008" cy="12344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5" name="Text 23"/>
          <p:cNvSpPr/>
          <p:nvPr/>
        </p:nvSpPr>
        <p:spPr>
          <a:xfrm>
            <a:off x="361188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42.11%</a:t>
            </a:r>
            <a:endParaRPr lang="en-US" sz="3200"/>
          </a:p>
        </p:txBody>
      </p:sp>
      <p:sp>
        <p:nvSpPr>
          <p:cNvPr id="26" name="Text 24"/>
          <p:cNvSpPr/>
          <p:nvPr/>
        </p:nvSpPr>
        <p:spPr>
          <a:xfrm>
            <a:off x="361188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6217920" y="274320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2743200"/>
            <a:ext cx="64008" cy="123444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9" name="Text 27"/>
          <p:cNvSpPr/>
          <p:nvPr/>
        </p:nvSpPr>
        <p:spPr>
          <a:xfrm>
            <a:off x="644652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11K</a:t>
            </a:r>
            <a:endParaRPr lang="en-US" sz="3200"/>
          </a:p>
        </p:txBody>
      </p:sp>
      <p:sp>
        <p:nvSpPr>
          <p:cNvPr id="30" name="Text 28"/>
          <p:cNvSpPr/>
          <p:nvPr/>
        </p:nvSpPr>
        <p:spPr>
          <a:xfrm>
            <a:off x="644652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32" name="Shape 30"/>
          <p:cNvSpPr/>
          <p:nvPr/>
        </p:nvSpPr>
        <p:spPr>
          <a:xfrm>
            <a:off x="548640" y="4251960"/>
            <a:ext cx="64008" cy="54864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70832"/>
            <a:ext cx="228600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30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strong but growth has stalled. Avg. unit revenue ($7.68) sits below original price ($8.43), indicating discount-driven margin compression that needs addressing.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 by beer family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margin contribution across beer </a:t>
            </a:r>
            <a:r>
              <a:rPr lang="en-US" altLang="ko-KR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8" name="Shape 5"/>
          <p:cNvSpPr/>
          <p:nvPr/>
        </p:nvSpPr>
        <p:spPr>
          <a:xfrm>
            <a:off x="5486400" y="1234440"/>
            <a:ext cx="338328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9" name="Shape 6"/>
          <p:cNvSpPr/>
          <p:nvPr/>
        </p:nvSpPr>
        <p:spPr>
          <a:xfrm>
            <a:off x="5486400" y="1234440"/>
            <a:ext cx="3383280" cy="457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0" name="Text 7"/>
          <p:cNvSpPr/>
          <p:nvPr/>
        </p:nvSpPr>
        <p:spPr>
          <a:xfrm>
            <a:off x="5623560" y="1371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5577840" y="1691640"/>
            <a:ext cx="3200400" cy="502920"/>
          </a:xfrm>
          <a:prstGeom prst="rect">
            <a:avLst/>
          </a:prstGeom>
          <a:solidFill>
            <a:srgbClr val="EBF0F7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2" name="Shape 9"/>
          <p:cNvSpPr/>
          <p:nvPr/>
        </p:nvSpPr>
        <p:spPr>
          <a:xfrm>
            <a:off x="5577840" y="1691640"/>
            <a:ext cx="45720" cy="5029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3" name="Text 10"/>
          <p:cNvSpPr/>
          <p:nvPr/>
        </p:nvSpPr>
        <p:spPr>
          <a:xfrm>
            <a:off x="5715000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17.8%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5715000" y="19293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dominates as the top revenue contributor</a:t>
            </a:r>
            <a:endParaRPr lang="en-US" sz="850"/>
          </a:p>
        </p:txBody>
      </p:sp>
      <p:sp>
        <p:nvSpPr>
          <p:cNvPr id="15" name="Shape 12"/>
          <p:cNvSpPr/>
          <p:nvPr/>
        </p:nvSpPr>
        <p:spPr>
          <a:xfrm>
            <a:off x="5577840" y="2331720"/>
            <a:ext cx="3200400" cy="502920"/>
          </a:xfrm>
          <a:prstGeom prst="rect">
            <a:avLst/>
          </a:prstGeom>
          <a:solidFill>
            <a:srgbClr val="EBF0F7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6" name="Shape 13"/>
          <p:cNvSpPr/>
          <p:nvPr/>
        </p:nvSpPr>
        <p:spPr>
          <a:xfrm>
            <a:off x="5577840" y="2331720"/>
            <a:ext cx="45720" cy="5029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7" name="Text 14"/>
          <p:cNvSpPr/>
          <p:nvPr/>
        </p:nvSpPr>
        <p:spPr>
          <a:xfrm>
            <a:off x="5715000" y="2359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17.5%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5715000" y="25694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</a:t>
            </a: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second strongest beer family by revenue share</a:t>
            </a:r>
            <a:endParaRPr lang="en-US" sz="850"/>
          </a:p>
        </p:txBody>
      </p:sp>
      <p:sp>
        <p:nvSpPr>
          <p:cNvPr id="19" name="Shape 16"/>
          <p:cNvSpPr/>
          <p:nvPr/>
        </p:nvSpPr>
        <p:spPr>
          <a:xfrm>
            <a:off x="5577840" y="2971800"/>
            <a:ext cx="3200400" cy="502920"/>
          </a:xfrm>
          <a:prstGeom prst="rect">
            <a:avLst/>
          </a:prstGeom>
          <a:solidFill>
            <a:srgbClr val="EBF0F7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0" name="Shape 17"/>
          <p:cNvSpPr/>
          <p:nvPr/>
        </p:nvSpPr>
        <p:spPr>
          <a:xfrm>
            <a:off x="5577840" y="2971800"/>
            <a:ext cx="45720" cy="5029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1" name="Text 18"/>
          <p:cNvSpPr/>
          <p:nvPr/>
        </p:nvSpPr>
        <p:spPr>
          <a:xfrm>
            <a:off x="5715000" y="2999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~47%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5715000" y="32095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</a:t>
            </a:r>
            <a:r>
              <a:rPr lang="en-US" altLang="ko-KR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AU" altLang="ko-KR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Pilsner</a:t>
            </a:r>
            <a:r>
              <a:rPr lang="en-US" altLang="ko-KR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Bock and Wheat deliver the highest profit margins</a:t>
            </a:r>
            <a:endParaRPr lang="en-US" sz="850"/>
          </a:p>
        </p:txBody>
      </p:sp>
      <p:sp>
        <p:nvSpPr>
          <p:cNvPr id="23" name="Shape 20"/>
          <p:cNvSpPr/>
          <p:nvPr/>
        </p:nvSpPr>
        <p:spPr>
          <a:xfrm>
            <a:off x="5577840" y="3611880"/>
            <a:ext cx="3200400" cy="502920"/>
          </a:xfrm>
          <a:prstGeom prst="rect">
            <a:avLst/>
          </a:prstGeom>
          <a:solidFill>
            <a:srgbClr val="EBF0F7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4" name="Shape 21"/>
          <p:cNvSpPr/>
          <p:nvPr/>
        </p:nvSpPr>
        <p:spPr>
          <a:xfrm>
            <a:off x="5577840" y="3611880"/>
            <a:ext cx="45720" cy="5029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5" name="Text 22"/>
          <p:cNvSpPr/>
          <p:nvPr/>
        </p:nvSpPr>
        <p:spPr>
          <a:xfrm>
            <a:off x="5715000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IPA ≠ Margin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5715000" y="38496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erode IPA profitability despite high revenue</a:t>
            </a:r>
            <a:endParaRPr lang="en-US" sz="850"/>
          </a:p>
        </p:txBody>
      </p:sp>
      <p:sp>
        <p:nvSpPr>
          <p:cNvPr id="27" name="Shape 24"/>
          <p:cNvSpPr/>
          <p:nvPr/>
        </p:nvSpPr>
        <p:spPr>
          <a:xfrm>
            <a:off x="5577840" y="4251960"/>
            <a:ext cx="3200400" cy="502920"/>
          </a:xfrm>
          <a:prstGeom prst="rect">
            <a:avLst/>
          </a:prstGeom>
          <a:solidFill>
            <a:srgbClr val="EBF0F7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8" name="Shape 25"/>
          <p:cNvSpPr/>
          <p:nvPr/>
        </p:nvSpPr>
        <p:spPr>
          <a:xfrm>
            <a:off x="5577840" y="4251960"/>
            <a:ext cx="45720" cy="5029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9" name="Text 26"/>
          <p:cNvSpPr/>
          <p:nvPr/>
        </p:nvSpPr>
        <p:spPr>
          <a:xfrm>
            <a:off x="5715000" y="4279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Median</a:t>
            </a:r>
            <a:endParaRPr lang="en-US" sz="1100"/>
          </a:p>
        </p:txBody>
      </p:sp>
      <p:sp>
        <p:nvSpPr>
          <p:cNvPr id="30" name="Text 27"/>
          <p:cNvSpPr/>
          <p:nvPr/>
        </p:nvSpPr>
        <p:spPr>
          <a:xfrm>
            <a:off x="5715000" y="44897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styles need repositioning or phase-out</a:t>
            </a:r>
            <a:endParaRPr lang="en-US" sz="85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A1E8AF-F997-4B0A-F41B-598239ACE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02" y="1234440"/>
            <a:ext cx="5066858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D3A"/>
                </a:solidFill>
                <a:latin typeface="Georgia"/>
                <a:ea typeface="Georgia" pitchFamily="34" charset="-122"/>
                <a:cs typeface="Georgia" pitchFamily="34" charset="-120"/>
              </a:rPr>
              <a:t>Portfolio Decisions: Revenue, Margin &amp; Product Traits</a:t>
            </a:r>
            <a:endParaRPr lang="en-US" sz="2000">
              <a:latin typeface="Georgia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shaped by ABV, flavour profile, and review performance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7" name="Image 0" descr="/home/claude/slide_6_visual_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8220" y="1255486"/>
            <a:ext cx="530352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1234440"/>
            <a:ext cx="31089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9" name="Shape 6"/>
          <p:cNvSpPr/>
          <p:nvPr/>
        </p:nvSpPr>
        <p:spPr>
          <a:xfrm>
            <a:off x="5760720" y="1234440"/>
            <a:ext cx="3108960" cy="457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0" name="Text 7"/>
          <p:cNvSpPr/>
          <p:nvPr/>
        </p:nvSpPr>
        <p:spPr>
          <a:xfrm>
            <a:off x="5897880" y="13716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589788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revenue does not always mean high profit margin.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5897880" y="2148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beer families sell more but are not the most profitable. Product traits help explain these differences.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5897880" y="2743200"/>
            <a:ext cx="2834640" cy="2743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4" name="Text 11"/>
          <p:cNvSpPr/>
          <p:nvPr/>
        </p:nvSpPr>
        <p:spPr>
          <a:xfrm>
            <a:off x="5897880" y="28803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LEADERS</a:t>
            </a:r>
            <a:endParaRPr lang="en-US" sz="800"/>
          </a:p>
        </p:txBody>
      </p:sp>
      <p:sp>
        <p:nvSpPr>
          <p:cNvPr id="15" name="Shape 12"/>
          <p:cNvSpPr/>
          <p:nvPr/>
        </p:nvSpPr>
        <p:spPr>
          <a:xfrm>
            <a:off x="5897880" y="3108960"/>
            <a:ext cx="2834640" cy="219456"/>
          </a:xfrm>
          <a:prstGeom prst="rect">
            <a:avLst/>
          </a:prstGeom>
          <a:solidFill>
            <a:srgbClr val="EBF0F7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6" name="Text 13"/>
          <p:cNvSpPr/>
          <p:nvPr/>
        </p:nvSpPr>
        <p:spPr>
          <a:xfrm>
            <a:off x="5943600" y="3108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Lager/Pilsner/Bock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7955280" y="3108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47.2%</a:t>
            </a:r>
            <a:endParaRPr lang="en-US" sz="900"/>
          </a:p>
        </p:txBody>
      </p:sp>
      <p:sp>
        <p:nvSpPr>
          <p:cNvPr id="18" name="Shape 15"/>
          <p:cNvSpPr/>
          <p:nvPr/>
        </p:nvSpPr>
        <p:spPr>
          <a:xfrm>
            <a:off x="5897880" y="3364992"/>
            <a:ext cx="2834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9" name="Text 16"/>
          <p:cNvSpPr/>
          <p:nvPr/>
        </p:nvSpPr>
        <p:spPr>
          <a:xfrm>
            <a:off x="5943600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7955280" y="33649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47.2%</a:t>
            </a:r>
            <a:endParaRPr lang="en-US" sz="900"/>
          </a:p>
        </p:txBody>
      </p:sp>
      <p:sp>
        <p:nvSpPr>
          <p:cNvPr id="21" name="Shape 18"/>
          <p:cNvSpPr/>
          <p:nvPr/>
        </p:nvSpPr>
        <p:spPr>
          <a:xfrm>
            <a:off x="5897880" y="3621024"/>
            <a:ext cx="2834640" cy="219456"/>
          </a:xfrm>
          <a:prstGeom prst="rect">
            <a:avLst/>
          </a:prstGeom>
          <a:solidFill>
            <a:srgbClr val="EBF0F7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2" name="Text 19"/>
          <p:cNvSpPr/>
          <p:nvPr/>
        </p:nvSpPr>
        <p:spPr>
          <a:xfrm>
            <a:off x="5943600" y="36210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</a:t>
            </a:r>
            <a:endParaRPr lang="en-US" sz="900"/>
          </a:p>
        </p:txBody>
      </p:sp>
      <p:sp>
        <p:nvSpPr>
          <p:cNvPr id="23" name="Text 20"/>
          <p:cNvSpPr/>
          <p:nvPr/>
        </p:nvSpPr>
        <p:spPr>
          <a:xfrm>
            <a:off x="7955280" y="36210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44.2%</a:t>
            </a:r>
            <a:endParaRPr lang="en-US" sz="900"/>
          </a:p>
        </p:txBody>
      </p:sp>
      <p:sp>
        <p:nvSpPr>
          <p:cNvPr id="24" name="Shape 21"/>
          <p:cNvSpPr/>
          <p:nvPr/>
        </p:nvSpPr>
        <p:spPr>
          <a:xfrm>
            <a:off x="5897880" y="3877056"/>
            <a:ext cx="2834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5" name="Text 22"/>
          <p:cNvSpPr/>
          <p:nvPr/>
        </p:nvSpPr>
        <p:spPr>
          <a:xfrm>
            <a:off x="5943600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</a:t>
            </a:r>
            <a:endParaRPr lang="en-US" sz="900"/>
          </a:p>
        </p:txBody>
      </p:sp>
      <p:sp>
        <p:nvSpPr>
          <p:cNvPr id="26" name="Text 23"/>
          <p:cNvSpPr/>
          <p:nvPr/>
        </p:nvSpPr>
        <p:spPr>
          <a:xfrm>
            <a:off x="7955280" y="38770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43.9%</a:t>
            </a:r>
            <a:endParaRPr lang="en-US" sz="900"/>
          </a:p>
        </p:txBody>
      </p:sp>
      <p:sp>
        <p:nvSpPr>
          <p:cNvPr id="27" name="Shape 24"/>
          <p:cNvSpPr/>
          <p:nvPr/>
        </p:nvSpPr>
        <p:spPr>
          <a:xfrm>
            <a:off x="5897880" y="4206240"/>
            <a:ext cx="2834640" cy="2743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343400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17220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revenue, margin, and product characteristics when making portfolio decisions.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Demand &amp; Customer Segments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preferences and customer types shape profitability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8" name="Shape 5"/>
          <p:cNvSpPr/>
          <p:nvPr/>
        </p:nvSpPr>
        <p:spPr>
          <a:xfrm>
            <a:off x="5394960" y="123444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9" name="Shape 6"/>
          <p:cNvSpPr/>
          <p:nvPr/>
        </p:nvSpPr>
        <p:spPr>
          <a:xfrm>
            <a:off x="5394960" y="1234440"/>
            <a:ext cx="3474720" cy="457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0" name="Text 7"/>
          <p:cNvSpPr/>
          <p:nvPr/>
        </p:nvSpPr>
        <p:spPr>
          <a:xfrm>
            <a:off x="5532120" y="1344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PATTERNS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5532120" y="15819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b="1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Ale, IPA &amp; Lager </a:t>
            </a:r>
            <a:r>
              <a:rPr lang="en-US" sz="9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drive profit in all regions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b="1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Pacific NW:</a:t>
            </a:r>
            <a:r>
              <a:rPr lang="en-US" sz="9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 experimental craft beer culture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b="1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Midwest:</a:t>
            </a:r>
            <a:r>
              <a:rPr lang="en-US" sz="9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 traditional, light, familiar styles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300"/>
              </a:spcAft>
              <a:buSzPct val="100000"/>
              <a:buFont typeface="Arial"/>
              <a:buChar char="•"/>
            </a:pPr>
            <a:r>
              <a:rPr lang="en-US" sz="900">
                <a:solidFill>
                  <a:srgbClr val="3D4F6F"/>
                </a:solidFill>
                <a:ea typeface="+mn-lt"/>
                <a:cs typeface="+mn-lt"/>
              </a:rPr>
              <a:t>Local preferences influence</a:t>
            </a:r>
            <a:r>
              <a:rPr lang="en-US" sz="900" b="1">
                <a:solidFill>
                  <a:srgbClr val="3D4F6F"/>
                </a:solidFill>
                <a:ea typeface="+mn-lt"/>
                <a:cs typeface="+mn-lt"/>
              </a:rPr>
              <a:t> which products should be emphasized</a:t>
            </a:r>
            <a:endParaRPr lang="en-US" sz="9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32120" y="2743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CUSTOMER SEGMENTS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5394960" y="2971800"/>
            <a:ext cx="347472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4" name="Shape 11"/>
          <p:cNvSpPr/>
          <p:nvPr/>
        </p:nvSpPr>
        <p:spPr>
          <a:xfrm>
            <a:off x="5394960" y="2971800"/>
            <a:ext cx="1280160" cy="32004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5" name="Text 12"/>
          <p:cNvSpPr/>
          <p:nvPr/>
        </p:nvSpPr>
        <p:spPr>
          <a:xfrm>
            <a:off x="6748272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0C0"/>
                </a:solidFill>
                <a:latin typeface="Georgia"/>
                <a:ea typeface="Georgia" pitchFamily="34" charset="-122"/>
                <a:cs typeface="Georgia" pitchFamily="34" charset="-120"/>
              </a:rPr>
              <a:t>Casual Drinkers</a:t>
            </a:r>
            <a:endParaRPr lang="en-US" sz="850" b="1">
              <a:solidFill>
                <a:srgbClr val="0070C0"/>
              </a:solidFill>
              <a:latin typeface="Georgia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4944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30.48% | $552.9K</a:t>
            </a:r>
            <a:endParaRPr lang="en-US" sz="800"/>
          </a:p>
        </p:txBody>
      </p:sp>
      <p:sp>
        <p:nvSpPr>
          <p:cNvPr id="17" name="Shape 14"/>
          <p:cNvSpPr/>
          <p:nvPr/>
        </p:nvSpPr>
        <p:spPr>
          <a:xfrm>
            <a:off x="5394960" y="3337560"/>
            <a:ext cx="347472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8" name="Shape 15"/>
          <p:cNvSpPr/>
          <p:nvPr/>
        </p:nvSpPr>
        <p:spPr>
          <a:xfrm>
            <a:off x="5394960" y="3337560"/>
            <a:ext cx="1110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9" name="Text 16"/>
          <p:cNvSpPr/>
          <p:nvPr/>
        </p:nvSpPr>
        <p:spPr>
          <a:xfrm>
            <a:off x="6578592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0C0"/>
                </a:solidFill>
                <a:latin typeface="Georgia"/>
                <a:ea typeface="Georgia" pitchFamily="34" charset="-122"/>
                <a:cs typeface="Georgia" pitchFamily="34" charset="-120"/>
              </a:rPr>
              <a:t>Craft Enthusiasts</a:t>
            </a:r>
            <a:endParaRPr lang="en-US" sz="850">
              <a:solidFill>
                <a:srgbClr val="0070C0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9494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26.44% | $479.8K</a:t>
            </a:r>
            <a:endParaRPr lang="en-US" sz="800"/>
          </a:p>
        </p:txBody>
      </p:sp>
      <p:sp>
        <p:nvSpPr>
          <p:cNvPr id="21" name="Shape 18"/>
          <p:cNvSpPr/>
          <p:nvPr/>
        </p:nvSpPr>
        <p:spPr>
          <a:xfrm>
            <a:off x="5394960" y="3703320"/>
            <a:ext cx="347472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2" name="Shape 19"/>
          <p:cNvSpPr/>
          <p:nvPr/>
        </p:nvSpPr>
        <p:spPr>
          <a:xfrm>
            <a:off x="5394960" y="3703320"/>
            <a:ext cx="642180" cy="32004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3" name="Text 20"/>
          <p:cNvSpPr/>
          <p:nvPr/>
        </p:nvSpPr>
        <p:spPr>
          <a:xfrm>
            <a:off x="6110292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B1D3A"/>
                </a:solidFill>
                <a:latin typeface="Georgia"/>
                <a:ea typeface="Georgia" pitchFamily="34" charset="-122"/>
                <a:cs typeface="Georgia" pitchFamily="34" charset="-120"/>
              </a:rPr>
              <a:t>Hospitality Buyers</a:t>
            </a:r>
            <a:endParaRPr lang="en-US" sz="850" b="1">
              <a:latin typeface="Georgia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4944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15.29% | $277.4K</a:t>
            </a:r>
            <a:endParaRPr lang="en-US" sz="800"/>
          </a:p>
        </p:txBody>
      </p:sp>
      <p:sp>
        <p:nvSpPr>
          <p:cNvPr id="25" name="Shape 22"/>
          <p:cNvSpPr/>
          <p:nvPr/>
        </p:nvSpPr>
        <p:spPr>
          <a:xfrm>
            <a:off x="5394960" y="4069080"/>
            <a:ext cx="347472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6" name="Shape 23"/>
          <p:cNvSpPr/>
          <p:nvPr/>
        </p:nvSpPr>
        <p:spPr>
          <a:xfrm>
            <a:off x="5394960" y="4069080"/>
            <a:ext cx="621180" cy="320040"/>
          </a:xfrm>
          <a:prstGeom prst="rect">
            <a:avLst/>
          </a:prstGeom>
          <a:solidFill>
            <a:srgbClr val="4A90C4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7" name="Text 24"/>
          <p:cNvSpPr/>
          <p:nvPr/>
        </p:nvSpPr>
        <p:spPr>
          <a:xfrm>
            <a:off x="6089292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Explorers</a:t>
            </a:r>
            <a:endParaRPr lang="en-US" sz="850"/>
          </a:p>
        </p:txBody>
      </p:sp>
      <p:sp>
        <p:nvSpPr>
          <p:cNvPr id="28" name="Text 25"/>
          <p:cNvSpPr/>
          <p:nvPr/>
        </p:nvSpPr>
        <p:spPr>
          <a:xfrm>
            <a:off x="694944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14.79% | $268.3K</a:t>
            </a:r>
            <a:endParaRPr lang="en-US" sz="800"/>
          </a:p>
        </p:txBody>
      </p:sp>
      <p:sp>
        <p:nvSpPr>
          <p:cNvPr id="29" name="Shape 26"/>
          <p:cNvSpPr/>
          <p:nvPr/>
        </p:nvSpPr>
        <p:spPr>
          <a:xfrm>
            <a:off x="5394960" y="4434840"/>
            <a:ext cx="347472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30" name="Shape 27"/>
          <p:cNvSpPr/>
          <p:nvPr/>
        </p:nvSpPr>
        <p:spPr>
          <a:xfrm>
            <a:off x="5394960" y="4434840"/>
            <a:ext cx="546000" cy="32004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1" name="Text 28"/>
          <p:cNvSpPr/>
          <p:nvPr/>
        </p:nvSpPr>
        <p:spPr>
          <a:xfrm>
            <a:off x="6014112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Convenience Buyers</a:t>
            </a:r>
            <a:endParaRPr lang="en-US" sz="850"/>
          </a:p>
        </p:txBody>
      </p:sp>
      <p:sp>
        <p:nvSpPr>
          <p:cNvPr id="32" name="Text 29"/>
          <p:cNvSpPr/>
          <p:nvPr/>
        </p:nvSpPr>
        <p:spPr>
          <a:xfrm>
            <a:off x="694944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13.00% | $235.9K</a:t>
            </a:r>
            <a:endParaRPr lang="en-US" sz="800"/>
          </a:p>
        </p:txBody>
      </p:sp>
      <p:pic>
        <p:nvPicPr>
          <p:cNvPr id="33" name="Picture 3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01E0CF4-83A4-CA73-626C-D64747D8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70" y="1343024"/>
            <a:ext cx="4764883" cy="33075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C755D9-C53C-0446-2255-4751548D2BC4}"/>
              </a:ext>
            </a:extLst>
          </p:cNvPr>
          <p:cNvSpPr/>
          <p:nvPr/>
        </p:nvSpPr>
        <p:spPr>
          <a:xfrm>
            <a:off x="194930" y="4450739"/>
            <a:ext cx="2162174" cy="43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900" b="1">
                <a:solidFill>
                  <a:srgbClr val="3D4F6F"/>
                </a:solidFill>
                <a:ea typeface="Calibri"/>
                <a:cs typeface="Calibri"/>
              </a:rPr>
              <a:t>Core beer families dominate across regions, but local preferences influence their profitability mix</a:t>
            </a:r>
          </a:p>
        </p:txBody>
      </p:sp>
      <p:pic>
        <p:nvPicPr>
          <p:cNvPr id="35" name="Picture 34" descr="Idea Generic Blue icon | Freepik">
            <a:extLst>
              <a:ext uri="{FF2B5EF4-FFF2-40B4-BE49-F238E27FC236}">
                <a16:creationId xmlns:a16="http://schemas.microsoft.com/office/drawing/2014/main" id="{151626AC-2D9B-CCE1-C507-EF15C7755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18" y="4019550"/>
            <a:ext cx="366033" cy="370115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3E8449F-E3D7-ED93-0839-D5386ACFE00B}"/>
              </a:ext>
            </a:extLst>
          </p:cNvPr>
          <p:cNvSpPr/>
          <p:nvPr/>
        </p:nvSpPr>
        <p:spPr>
          <a:xfrm>
            <a:off x="7493799" y="2503558"/>
            <a:ext cx="1529444" cy="41972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900" b="1">
                <a:solidFill>
                  <a:srgbClr val="3D4F6F"/>
                </a:solidFill>
                <a:ea typeface="+mn-lt"/>
                <a:cs typeface="+mn-lt"/>
              </a:rPr>
              <a:t>Casuals drive volume; craft drives higher-margin sales</a:t>
            </a:r>
            <a:endParaRPr lang="en-US"/>
          </a:p>
        </p:txBody>
      </p:sp>
      <p:pic>
        <p:nvPicPr>
          <p:cNvPr id="37" name="Picture 36" descr="Idea Generic Blue icon | Freepik">
            <a:extLst>
              <a:ext uri="{FF2B5EF4-FFF2-40B4-BE49-F238E27FC236}">
                <a16:creationId xmlns:a16="http://schemas.microsoft.com/office/drawing/2014/main" id="{441D33D9-220B-B3C5-5557-74517E530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424" y="2202996"/>
            <a:ext cx="366033" cy="370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Performance Across Regions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vs. margin trade-off and regional performance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44336"/>
              </p:ext>
            </p:extLst>
          </p:nvPr>
        </p:nvGraphicFramePr>
        <p:xfrm>
          <a:off x="548640" y="1234440"/>
          <a:ext cx="4572000" cy="280606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Off-Premise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Off-Premise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B1D3A"/>
                          </a:solidFill>
                          <a:latin typeface="Calibri"/>
                          <a:ea typeface="Calibri"/>
                          <a:cs typeface="Calibri"/>
                        </a:rPr>
                        <a:t>Southwest</a:t>
                      </a:r>
                      <a:endParaRPr lang="en-US" sz="9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$217.89K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$119.01K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>
                          <a:solidFill>
                            <a:srgbClr val="0B1D3A"/>
                          </a:solidFill>
                          <a:latin typeface="Calibri"/>
                          <a:ea typeface="Calibri"/>
                          <a:cs typeface="Calibri"/>
                        </a:rPr>
                        <a:t>Southeast</a:t>
                      </a:r>
                      <a:endParaRPr lang="en-US" sz="9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$464.08K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$241.40K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Coast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$460.97K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$244.57K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Midwest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$473.20K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$240.23K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B1D3A"/>
                          </a:solidFill>
                          <a:latin typeface="Calibri"/>
                          <a:ea typeface="Calibri"/>
                          <a:cs typeface="Calibri"/>
                        </a:rPr>
                        <a:t>Mountain</a:t>
                      </a:r>
                      <a:endParaRPr lang="en-US" sz="9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$248.10K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$122.10K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 NW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$492.09K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$244.58K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Northeast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$485.95K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$254.52K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234440"/>
            <a:ext cx="33832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9" name="Shape 6"/>
          <p:cNvSpPr/>
          <p:nvPr/>
        </p:nvSpPr>
        <p:spPr>
          <a:xfrm>
            <a:off x="5394960" y="1234440"/>
            <a:ext cx="64008" cy="82296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7" name="Text 7"/>
          <p:cNvSpPr/>
          <p:nvPr/>
        </p:nvSpPr>
        <p:spPr>
          <a:xfrm>
            <a:off x="5623560" y="1307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Off-Premise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5623560" y="1600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~2x higher revenue than on-premise. </a:t>
            </a:r>
            <a:r>
              <a:rPr lang="en-US" sz="1000" b="1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Volume-driven</a:t>
            </a:r>
            <a:r>
              <a:rPr lang="en-US" sz="10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 channel.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394960" y="2217420"/>
            <a:ext cx="33832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3" name="Shape 10"/>
          <p:cNvSpPr/>
          <p:nvPr/>
        </p:nvSpPr>
        <p:spPr>
          <a:xfrm>
            <a:off x="5394960" y="2217420"/>
            <a:ext cx="64008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4" name="Text 11"/>
          <p:cNvSpPr/>
          <p:nvPr/>
        </p:nvSpPr>
        <p:spPr>
          <a:xfrm>
            <a:off x="5623560" y="22905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On-Premise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5623560" y="25831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Higher margin (~45% vs ~40%). </a:t>
            </a:r>
            <a:r>
              <a:rPr lang="en-US" sz="1000" b="1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Margin-driven </a:t>
            </a:r>
            <a:r>
              <a:rPr lang="en-US" sz="10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channel.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394960" y="3200400"/>
            <a:ext cx="33832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7" name="Shape 14"/>
          <p:cNvSpPr/>
          <p:nvPr/>
        </p:nvSpPr>
        <p:spPr>
          <a:xfrm>
            <a:off x="5394960" y="3200400"/>
            <a:ext cx="64008" cy="82296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8" name="Text 15"/>
          <p:cNvSpPr/>
          <p:nvPr/>
        </p:nvSpPr>
        <p:spPr>
          <a:xfrm>
            <a:off x="5623560" y="3273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Regions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5623560" y="3566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Mountain &amp; Southwest</a:t>
            </a:r>
            <a:r>
              <a:rPr lang="en-US" sz="10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 underperform across both channels. Possible execution issues.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519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97280" y="4187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product selection and pricing to each channel — volume in off-premise, margin in on-premise — while investigating weak regions.</a:t>
            </a:r>
            <a:endParaRPr lang="en-US" sz="1150"/>
          </a:p>
        </p:txBody>
      </p:sp>
      <p:pic>
        <p:nvPicPr>
          <p:cNvPr id="23" name="Picture 22" descr="Attention - Free ui icons">
            <a:extLst>
              <a:ext uri="{FF2B5EF4-FFF2-40B4-BE49-F238E27FC236}">
                <a16:creationId xmlns:a16="http://schemas.microsoft.com/office/drawing/2014/main" id="{E0D4287D-0137-8A34-6518-AB3D9B88A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50371" y="3052082"/>
            <a:ext cx="229961" cy="223156"/>
          </a:xfrm>
          <a:prstGeom prst="rect">
            <a:avLst/>
          </a:prstGeom>
        </p:spPr>
      </p:pic>
      <p:pic>
        <p:nvPicPr>
          <p:cNvPr id="24" name="Picture 23" descr="Attention - Free ui icons">
            <a:extLst>
              <a:ext uri="{FF2B5EF4-FFF2-40B4-BE49-F238E27FC236}">
                <a16:creationId xmlns:a16="http://schemas.microsoft.com/office/drawing/2014/main" id="{0076D6B7-3044-CF4A-C56D-C763FEF77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50371" y="1647824"/>
            <a:ext cx="229961" cy="2231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Alternate Perspectives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analytical boundaries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ALTERNATE PERSPECTIVE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54864" cy="9144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47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patterns, but not direct cause-and-effect.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>
          <a:xfrm>
            <a:off x="4754880" y="1737360"/>
            <a:ext cx="3840480" cy="914400"/>
          </a:xfrm>
          <a:prstGeom prst="rect">
            <a:avLst/>
          </a:prstGeom>
          <a:solidFill>
            <a:srgbClr val="EBF0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6" name="Shape 13"/>
          <p:cNvSpPr/>
          <p:nvPr/>
        </p:nvSpPr>
        <p:spPr>
          <a:xfrm>
            <a:off x="4754880" y="1737360"/>
            <a:ext cx="54864" cy="91440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4708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Lower-margin products may still support variety or niche demand.</a:t>
            </a:r>
            <a:endParaRPr lang="en-US" sz="1050"/>
          </a:p>
        </p:txBody>
      </p:sp>
      <p:sp>
        <p:nvSpPr>
          <p:cNvPr id="19" name="Shape 15"/>
          <p:cNvSpPr/>
          <p:nvPr/>
        </p:nvSpPr>
        <p:spPr>
          <a:xfrm>
            <a:off x="548640" y="278892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0" name="Shape 16"/>
          <p:cNvSpPr/>
          <p:nvPr/>
        </p:nvSpPr>
        <p:spPr>
          <a:xfrm>
            <a:off x="548640" y="2788920"/>
            <a:ext cx="54864" cy="9144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9864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 such as competitors, marketing, and customer loyalty are not included.</a:t>
            </a:r>
            <a:endParaRPr lang="en-US" sz="1050"/>
          </a:p>
        </p:txBody>
      </p:sp>
      <p:sp>
        <p:nvSpPr>
          <p:cNvPr id="23" name="Shape 18"/>
          <p:cNvSpPr/>
          <p:nvPr/>
        </p:nvSpPr>
        <p:spPr>
          <a:xfrm>
            <a:off x="4754880" y="2788920"/>
            <a:ext cx="3840480" cy="914400"/>
          </a:xfrm>
          <a:prstGeom prst="rect">
            <a:avLst/>
          </a:prstGeom>
          <a:solidFill>
            <a:srgbClr val="EBF0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4" name="Shape 19"/>
          <p:cNvSpPr/>
          <p:nvPr/>
        </p:nvSpPr>
        <p:spPr>
          <a:xfrm>
            <a:off x="4754880" y="2788920"/>
            <a:ext cx="54864" cy="91440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9864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weaker products may benefit from repositioning rather than removal.</a:t>
            </a:r>
            <a:endParaRPr lang="en-US" sz="1050"/>
          </a:p>
        </p:txBody>
      </p:sp>
      <p:sp>
        <p:nvSpPr>
          <p:cNvPr id="27" name="Shape 21"/>
          <p:cNvSpPr/>
          <p:nvPr/>
        </p:nvSpPr>
        <p:spPr>
          <a:xfrm>
            <a:off x="548640" y="38404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8" name="Shape 22"/>
          <p:cNvSpPr/>
          <p:nvPr/>
        </p:nvSpPr>
        <p:spPr>
          <a:xfrm>
            <a:off x="548640" y="3840480"/>
            <a:ext cx="54864" cy="9144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5020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728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Family-level analysis may hide product-level differences.</a:t>
            </a:r>
            <a:endParaRPr lang="en-US" sz="1050"/>
          </a:p>
        </p:txBody>
      </p:sp>
      <p:sp>
        <p:nvSpPr>
          <p:cNvPr id="31" name="Shape 24"/>
          <p:cNvSpPr/>
          <p:nvPr/>
        </p:nvSpPr>
        <p:spPr>
          <a:xfrm>
            <a:off x="4754880" y="3840480"/>
            <a:ext cx="3840480" cy="914400"/>
          </a:xfrm>
          <a:prstGeom prst="rect">
            <a:avLst/>
          </a:prstGeom>
          <a:solidFill>
            <a:srgbClr val="EBF0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32" name="Shape 25"/>
          <p:cNvSpPr/>
          <p:nvPr/>
        </p:nvSpPr>
        <p:spPr>
          <a:xfrm>
            <a:off x="4754880" y="3840480"/>
            <a:ext cx="54864" cy="91440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5020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0352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should guide decisions, but not act as absolute rules.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Recommendations: Product Actions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 to protect margins and drive growth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64008" cy="150876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49047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 High-Margin Styles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73152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shelf space and promotional support for IPAs, Lagers, and Wheat Beers which deliver 44-47% margins. These should be the portfolio anchor.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4800600" y="12801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4" name="Shape 11"/>
          <p:cNvSpPr/>
          <p:nvPr/>
        </p:nvSpPr>
        <p:spPr>
          <a:xfrm>
            <a:off x="4800600" y="1280160"/>
            <a:ext cx="64008" cy="150876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5" name="Shape 12"/>
          <p:cNvSpPr/>
          <p:nvPr/>
        </p:nvSpPr>
        <p:spPr>
          <a:xfrm>
            <a:off x="4983480" y="1417320"/>
            <a:ext cx="411480" cy="41148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49047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Restructure Discount Tiers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498348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deep discounts that erode margins to ~35%. Implement tiered pricing: small discounts for trial, loyalty rewards for repeat purchase — not blanket markdowns.</a:t>
            </a:r>
            <a:endParaRPr lang="en-US" sz="1050"/>
          </a:p>
        </p:txBody>
      </p:sp>
      <p:sp>
        <p:nvSpPr>
          <p:cNvPr id="19" name="Shape 15"/>
          <p:cNvSpPr/>
          <p:nvPr/>
        </p:nvSpPr>
        <p:spPr>
          <a:xfrm>
            <a:off x="548640" y="297180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0" name="Shape 16"/>
          <p:cNvSpPr/>
          <p:nvPr/>
        </p:nvSpPr>
        <p:spPr>
          <a:xfrm>
            <a:off x="548640" y="2971800"/>
            <a:ext cx="64008" cy="1508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1" name="Shape 17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18211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Reposition Underperformers</a:t>
            </a:r>
            <a:endParaRPr lang="en-US" sz="1300"/>
          </a:p>
        </p:txBody>
      </p:sp>
      <p:sp>
        <p:nvSpPr>
          <p:cNvPr id="24" name="Text 19"/>
          <p:cNvSpPr/>
          <p:nvPr/>
        </p:nvSpPr>
        <p:spPr>
          <a:xfrm>
            <a:off x="7315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Fruit/Sour and Strong Ale (~38% margin) need repositioning — consider seasonal limited releases or premium branding rather than phase-out, to preserve portfolio variety.</a:t>
            </a:r>
            <a:endParaRPr lang="en-US" sz="1050"/>
          </a:p>
        </p:txBody>
      </p:sp>
      <p:sp>
        <p:nvSpPr>
          <p:cNvPr id="25" name="Shape 20"/>
          <p:cNvSpPr/>
          <p:nvPr/>
        </p:nvSpPr>
        <p:spPr>
          <a:xfrm>
            <a:off x="4800600" y="297180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6" name="Shape 21"/>
          <p:cNvSpPr/>
          <p:nvPr/>
        </p:nvSpPr>
        <p:spPr>
          <a:xfrm>
            <a:off x="4800600" y="2971800"/>
            <a:ext cx="64008" cy="1508760"/>
          </a:xfrm>
          <a:prstGeom prst="rect">
            <a:avLst/>
          </a:prstGeom>
          <a:solidFill>
            <a:srgbClr val="4A90C4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7" name="Shape 22"/>
          <p:cNvSpPr/>
          <p:nvPr/>
        </p:nvSpPr>
        <p:spPr>
          <a:xfrm>
            <a:off x="4983480" y="3108960"/>
            <a:ext cx="411480" cy="411480"/>
          </a:xfrm>
          <a:prstGeom prst="ellipse">
            <a:avLst/>
          </a:prstGeom>
          <a:solidFill>
            <a:srgbClr val="4A90C4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18211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Leverage Product Characteristics</a:t>
            </a:r>
            <a:endParaRPr lang="en-US" sz="1300"/>
          </a:p>
        </p:txBody>
      </p:sp>
      <p:sp>
        <p:nvSpPr>
          <p:cNvPr id="30" name="Text 24"/>
          <p:cNvSpPr/>
          <p:nvPr/>
        </p:nvSpPr>
        <p:spPr>
          <a:xfrm>
            <a:off x="498348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flavour data (bitterness, hoppiness, sweetness) and review scores to guide new product development and curate regional assortments that match local preferences.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Recommendations: Operational Actions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execution and channel optimisation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64008" cy="150876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49047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Investigate Sunbelt Underperformance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73152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&amp; Southwest regions lag on both revenue and margin. Conduct field audits on pricing execution, distribution coverage, and product mix alignment.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4800600" y="12801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14" name="Shape 11"/>
          <p:cNvSpPr/>
          <p:nvPr/>
        </p:nvSpPr>
        <p:spPr>
          <a:xfrm>
            <a:off x="4800600" y="1280160"/>
            <a:ext cx="64008" cy="150876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5" name="Shape 12"/>
          <p:cNvSpPr/>
          <p:nvPr/>
        </p:nvSpPr>
        <p:spPr>
          <a:xfrm>
            <a:off x="4983480" y="1417320"/>
            <a:ext cx="411480" cy="41148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49047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Optimise Channel Strategy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498348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Off-premise for volume (broaden assortment), on-premise for margin (premium SKUs, higher pour prices). Tailor product selection per channel type.</a:t>
            </a:r>
            <a:endParaRPr lang="en-US" sz="1050"/>
          </a:p>
        </p:txBody>
      </p:sp>
      <p:sp>
        <p:nvSpPr>
          <p:cNvPr id="19" name="Shape 15"/>
          <p:cNvSpPr/>
          <p:nvPr/>
        </p:nvSpPr>
        <p:spPr>
          <a:xfrm>
            <a:off x="548640" y="297180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0" name="Shape 16"/>
          <p:cNvSpPr/>
          <p:nvPr/>
        </p:nvSpPr>
        <p:spPr>
          <a:xfrm>
            <a:off x="548640" y="2971800"/>
            <a:ext cx="64008" cy="1508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1" name="Shape 17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18211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Down on Strong Markets</a:t>
            </a:r>
            <a:endParaRPr lang="en-US" sz="1300"/>
          </a:p>
        </p:txBody>
      </p:sp>
      <p:sp>
        <p:nvSpPr>
          <p:cNvPr id="24" name="Text 19"/>
          <p:cNvSpPr/>
          <p:nvPr/>
        </p:nvSpPr>
        <p:spPr>
          <a:xfrm>
            <a:off x="7315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regions (Northeast, West Coast, Pacific NW) are thriving. Increase investment in Casual Drinker and Craft Enthusiast segments where spend per purchase is highest.</a:t>
            </a:r>
            <a:endParaRPr lang="en-US" sz="1050"/>
          </a:p>
        </p:txBody>
      </p:sp>
      <p:sp>
        <p:nvSpPr>
          <p:cNvPr id="25" name="Shape 20"/>
          <p:cNvSpPr/>
          <p:nvPr/>
        </p:nvSpPr>
        <p:spPr>
          <a:xfrm>
            <a:off x="4800600" y="297180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AU" altLang="en-US"/>
          </a:p>
        </p:txBody>
      </p:sp>
      <p:sp>
        <p:nvSpPr>
          <p:cNvPr id="26" name="Shape 21"/>
          <p:cNvSpPr/>
          <p:nvPr/>
        </p:nvSpPr>
        <p:spPr>
          <a:xfrm>
            <a:off x="4800600" y="2971800"/>
            <a:ext cx="64008" cy="1508760"/>
          </a:xfrm>
          <a:prstGeom prst="rect">
            <a:avLst/>
          </a:prstGeom>
          <a:solidFill>
            <a:srgbClr val="4A90C4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27" name="Shape 22"/>
          <p:cNvSpPr/>
          <p:nvPr/>
        </p:nvSpPr>
        <p:spPr>
          <a:xfrm>
            <a:off x="4983480" y="3108960"/>
            <a:ext cx="411480" cy="411480"/>
          </a:xfrm>
          <a:prstGeom prst="ellipse">
            <a:avLst/>
          </a:prstGeom>
          <a:solidFill>
            <a:srgbClr val="4A90C4"/>
          </a:solidFill>
          <a:ln/>
        </p:spPr>
        <p:txBody>
          <a:bodyPr/>
          <a:lstStyle/>
          <a:p>
            <a:endParaRPr lang="ko-AU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18211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Regional Test Framework</a:t>
            </a:r>
            <a:endParaRPr lang="en-US" sz="1300"/>
          </a:p>
        </p:txBody>
      </p:sp>
      <p:sp>
        <p:nvSpPr>
          <p:cNvPr id="30" name="Text 24"/>
          <p:cNvSpPr/>
          <p:nvPr/>
        </p:nvSpPr>
        <p:spPr>
          <a:xfrm>
            <a:off x="498348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new product launches and pricing strategies in strong markets before rolling out nationally. Use A/B testing on discount levels to find the optimal margin-volume balance.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4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3840480" y="1508760"/>
            <a:ext cx="1463040" cy="36576"/>
          </a:xfrm>
          <a:prstGeom prst="rect">
            <a:avLst/>
          </a:prstGeom>
          <a:solidFill>
            <a:srgbClr val="D4A439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402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2128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IPAs, Lagers &amp; Wheat Beers are the margin leaders — prioritise and protect them</a:t>
            </a:r>
            <a:endParaRPr lang="en-US" sz="12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6974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6700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restructuring is critical — deep discounts erode margins without sufficient volume uplift</a:t>
            </a:r>
            <a:endParaRPr lang="en-US" sz="12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546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7360" y="31272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markets are strong; Sunbelt regions need investigation and intervention</a:t>
            </a:r>
            <a:endParaRPr lang="en-US" sz="12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118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37360" y="35844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 must differentiate — volume through off-premise, margin through on-premise</a:t>
            </a:r>
            <a:endParaRPr lang="en-US" sz="1200"/>
          </a:p>
        </p:txBody>
      </p:sp>
      <p:sp>
        <p:nvSpPr>
          <p:cNvPr id="13" name="Shape 7"/>
          <p:cNvSpPr/>
          <p:nvPr/>
        </p:nvSpPr>
        <p:spPr>
          <a:xfrm>
            <a:off x="3474720" y="4160520"/>
            <a:ext cx="2194560" cy="2743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4" name="Text 8"/>
          <p:cNvSpPr/>
          <p:nvPr/>
        </p:nvSpPr>
        <p:spPr>
          <a:xfrm>
            <a:off x="22860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D6E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400"/>
          </a:p>
        </p:txBody>
      </p:sp>
      <p:sp>
        <p:nvSpPr>
          <p:cNvPr id="15" name="Text 9"/>
          <p:cNvSpPr/>
          <p:nvPr/>
        </p:nvSpPr>
        <p:spPr>
          <a:xfrm>
            <a:off x="228600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 and next-step discussion.</a:t>
            </a:r>
            <a:endParaRPr lang="en-US" sz="1000"/>
          </a:p>
        </p:txBody>
      </p:sp>
      <p:sp>
        <p:nvSpPr>
          <p:cNvPr id="16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A0F52-D691-837C-C955-0118C83D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CF57A1-73EE-5527-A882-14763A9660EB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E30CF8-E988-3A1E-BC24-7EA5CB346721}"/>
              </a:ext>
            </a:extLst>
          </p:cNvPr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8F07A7-7C54-FED3-F48E-E962AC6A8622}"/>
              </a:ext>
            </a:extLst>
          </p:cNvPr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</a:rPr>
              <a:t>Dashboard Demonstration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88480E-4A2C-5971-2E2D-694E3A0FC1A5}"/>
              </a:ext>
            </a:extLst>
          </p:cNvPr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interactive Power BI dashboard was developed to provide management with visibility into product performance, profitability, customer segments, regional demand patterns, and channel effectiveness.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FE30402-1083-F6B0-1ADC-AE406B285B3B}"/>
              </a:ext>
            </a:extLst>
          </p:cNvPr>
          <p:cNvSpPr/>
          <p:nvPr/>
        </p:nvSpPr>
        <p:spPr>
          <a:xfrm>
            <a:off x="548640" y="1139483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5290A88-2EE4-0060-2374-2C34A3FD3F0A}"/>
              </a:ext>
            </a:extLst>
          </p:cNvPr>
          <p:cNvSpPr/>
          <p:nvPr/>
        </p:nvSpPr>
        <p:spPr>
          <a:xfrm>
            <a:off x="12801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46DDD02-1D2B-BDF1-E477-AE8DD426A54C}"/>
              </a:ext>
            </a:extLst>
          </p:cNvPr>
          <p:cNvSpPr/>
          <p:nvPr/>
        </p:nvSpPr>
        <p:spPr>
          <a:xfrm>
            <a:off x="7315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33" name="Picture 3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CB69A-7080-81A9-6A66-737CDBA92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252728"/>
            <a:ext cx="5614768" cy="365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40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56886-AEB9-A660-81FE-2671E564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6D981C-B28E-A6D7-A1C0-AD79BB133150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2AE557-8E98-A8E0-657E-16A7AA40C9F6}"/>
              </a:ext>
            </a:extLst>
          </p:cNvPr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F33F96-6192-F7BF-5958-D8EAE3967623}"/>
              </a:ext>
            </a:extLst>
          </p:cNvPr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</a:rPr>
              <a:t>Dashboard Demonstration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651B5E-C962-ADAF-C971-F53691E8BA2B}"/>
              </a:ext>
            </a:extLst>
          </p:cNvPr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interactive Power BI dashboard was developed to provide management with visibility into product performance, profitability, customer segments, regional demand patterns, and channel effectiveness.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D6F1AD5-515E-5E41-6D7B-BA6EEB2BB1B6}"/>
              </a:ext>
            </a:extLst>
          </p:cNvPr>
          <p:cNvSpPr/>
          <p:nvPr/>
        </p:nvSpPr>
        <p:spPr>
          <a:xfrm>
            <a:off x="548640" y="1139483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0A1EDA2-89EC-D110-0B16-9979F4D2753B}"/>
              </a:ext>
            </a:extLst>
          </p:cNvPr>
          <p:cNvSpPr/>
          <p:nvPr/>
        </p:nvSpPr>
        <p:spPr>
          <a:xfrm>
            <a:off x="12801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B8AD87F-B5A8-41AD-13C4-88F7A6D1340C}"/>
              </a:ext>
            </a:extLst>
          </p:cNvPr>
          <p:cNvSpPr/>
          <p:nvPr/>
        </p:nvSpPr>
        <p:spPr>
          <a:xfrm>
            <a:off x="7315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BB72260-AF4F-CF84-18B5-CDC6C883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8448"/>
            <a:ext cx="5614328" cy="365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24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2891C-5089-A752-7EE6-A1F07131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42B55-EC39-1871-342E-EA17851C05A3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C4D5A8-DB6E-82D1-4EAB-5C82DA279693}"/>
              </a:ext>
            </a:extLst>
          </p:cNvPr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841E02-DC86-91E0-1A8D-8F98E91A4F6B}"/>
              </a:ext>
            </a:extLst>
          </p:cNvPr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</a:rPr>
              <a:t>Dashboard Demonstration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D109E4-E256-6C4A-ACD6-DD5DC904400B}"/>
              </a:ext>
            </a:extLst>
          </p:cNvPr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interactive Power BI dashboard was developed to provide management with visibility into product performance, profitability, customer segments, regional demand patterns, and channel effectiveness.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17F29F-CB5E-C018-8832-C41092A54E62}"/>
              </a:ext>
            </a:extLst>
          </p:cNvPr>
          <p:cNvSpPr/>
          <p:nvPr/>
        </p:nvSpPr>
        <p:spPr>
          <a:xfrm>
            <a:off x="548640" y="1139483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3FE7E6-CF90-2C6B-1308-7C8A0ECE42D2}"/>
              </a:ext>
            </a:extLst>
          </p:cNvPr>
          <p:cNvSpPr/>
          <p:nvPr/>
        </p:nvSpPr>
        <p:spPr>
          <a:xfrm>
            <a:off x="12801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344F44D-AD72-43DF-9E09-4B27DA5F5DB9}"/>
              </a:ext>
            </a:extLst>
          </p:cNvPr>
          <p:cNvSpPr/>
          <p:nvPr/>
        </p:nvSpPr>
        <p:spPr>
          <a:xfrm>
            <a:off x="7315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ABDE68-2664-44E2-8438-5F39D587D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8004"/>
            <a:ext cx="5509260" cy="358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68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D2C00-2CB2-B1DC-9E14-B7C63607C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C9FBB2-963B-993E-0AB0-CF5E6FF46818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35CC50-1A2C-89F3-6BE6-651695624AF9}"/>
              </a:ext>
            </a:extLst>
          </p:cNvPr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077697-24DC-4766-A354-28C7A5061B89}"/>
              </a:ext>
            </a:extLst>
          </p:cNvPr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</a:rPr>
              <a:t>Dashboard Demonstration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D1E7B5-657F-C83E-2B44-F432863552DE}"/>
              </a:ext>
            </a:extLst>
          </p:cNvPr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interactive Power BI dashboard was developed to provide management with visibility into product performance, profitability, customer segments, regional demand patterns, and channel effectiveness.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019F46-FDA3-DE5F-1FFF-1185B4245BB6}"/>
              </a:ext>
            </a:extLst>
          </p:cNvPr>
          <p:cNvSpPr/>
          <p:nvPr/>
        </p:nvSpPr>
        <p:spPr>
          <a:xfrm>
            <a:off x="548640" y="1139483"/>
            <a:ext cx="1097280" cy="36576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ko-AU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3364C1B-02E2-AB57-D445-9118C24AAF04}"/>
              </a:ext>
            </a:extLst>
          </p:cNvPr>
          <p:cNvSpPr/>
          <p:nvPr/>
        </p:nvSpPr>
        <p:spPr>
          <a:xfrm>
            <a:off x="12801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83BBE60-3F85-7787-46A6-BB90793B94C3}"/>
              </a:ext>
            </a:extLst>
          </p:cNvPr>
          <p:cNvSpPr/>
          <p:nvPr/>
        </p:nvSpPr>
        <p:spPr>
          <a:xfrm>
            <a:off x="7315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184D6C-9FD3-F4B5-D02A-55D314AB6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5695"/>
            <a:ext cx="5614768" cy="365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92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1372</Words>
  <Application>Microsoft Macintosh PowerPoint</Application>
  <PresentationFormat>On-screen Show (16:9)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Optimising the Craft Beer Portfolio</dc:title>
  <dc:subject>PptxGenJS Presentation</dc:subject>
  <dc:creator>Consulting Team</dc:creator>
  <cp:lastModifiedBy>Brayton Tiong</cp:lastModifiedBy>
  <cp:revision>14</cp:revision>
  <dcterms:created xsi:type="dcterms:W3CDTF">2026-04-20T02:30:24Z</dcterms:created>
  <dcterms:modified xsi:type="dcterms:W3CDTF">2026-06-04T05:51:50Z</dcterms:modified>
</cp:coreProperties>
</file>